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e8d2197d404543" /><Relationship Type="http://schemas.openxmlformats.org/officeDocument/2006/relationships/extended-properties" Target="/docProps/app.xml" Id="Rd71f67cf92884661" /><Relationship Type="http://schemas.openxmlformats.org/officeDocument/2006/relationships/officeDocument" Target="/ppt/presentation.xml" Id="Rdd07169db01c49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87e96b1456467e"/>
  </p:sldMasterIdLst>
  <p:notesMasterIdLst>
    <p:notesMasterId xmlns:r="http://schemas.openxmlformats.org/officeDocument/2006/relationships" r:id="R9950e436babc4f8a"/>
  </p:notesMasterIdLst>
  <p:sldIdLst>
    <p:sldId xmlns:r="http://schemas.openxmlformats.org/officeDocument/2006/relationships" id="256" r:id="Rcd6b99fa7402434d"/>
    <p:sldId xmlns:r="http://schemas.openxmlformats.org/officeDocument/2006/relationships" id="257" r:id="R2929e6ef505f4c8f"/>
    <p:sldId xmlns:r="http://schemas.openxmlformats.org/officeDocument/2006/relationships" id="258" r:id="R26b7d6ec68d0453e"/>
    <p:sldId xmlns:r="http://schemas.openxmlformats.org/officeDocument/2006/relationships" id="259" r:id="Rbe240ff2316146fb"/>
    <p:sldId xmlns:r="http://schemas.openxmlformats.org/officeDocument/2006/relationships" id="260" r:id="Rf0e64182d44140ab"/>
    <p:sldId xmlns:r="http://schemas.openxmlformats.org/officeDocument/2006/relationships" id="261" r:id="R34cf52dcf76c4502"/>
    <p:sldId xmlns:r="http://schemas.openxmlformats.org/officeDocument/2006/relationships" id="262" r:id="R5705aa56945644c6"/>
    <p:sldId xmlns:r="http://schemas.openxmlformats.org/officeDocument/2006/relationships" id="263" r:id="R3d8939e71e1b4d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08ade77e05401c" /><Relationship Type="http://schemas.openxmlformats.org/officeDocument/2006/relationships/slideMaster" Target="/ppt/slideMasters/slideMaster1.xml" Id="R1287e96b1456467e" /><Relationship Type="http://schemas.openxmlformats.org/officeDocument/2006/relationships/notesMaster" Target="/ppt/notesMasters/notesMaster1.xml" Id="R9950e436babc4f8a" /><Relationship Type="http://schemas.openxmlformats.org/officeDocument/2006/relationships/presProps" Target="/ppt/presProps.xml" Id="R1b31008b4df54efa" /><Relationship Type="http://schemas.openxmlformats.org/officeDocument/2006/relationships/tableStyles" Target="/ppt/tableStyles.xml" Id="R94b28026790c496f" /><Relationship Type="http://schemas.openxmlformats.org/officeDocument/2006/relationships/slide" Target="/ppt/slides/slide1.xml" Id="Rcd6b99fa7402434d" /><Relationship Type="http://schemas.openxmlformats.org/officeDocument/2006/relationships/slide" Target="/ppt/slides/slide2.xml" Id="R2929e6ef505f4c8f" /><Relationship Type="http://schemas.openxmlformats.org/officeDocument/2006/relationships/slide" Target="/ppt/slides/slide3.xml" Id="R26b7d6ec68d0453e" /><Relationship Type="http://schemas.openxmlformats.org/officeDocument/2006/relationships/slide" Target="/ppt/slides/slide4.xml" Id="Rbe240ff2316146fb" /><Relationship Type="http://schemas.openxmlformats.org/officeDocument/2006/relationships/slide" Target="/ppt/slides/slide5.xml" Id="Rf0e64182d44140ab" /><Relationship Type="http://schemas.openxmlformats.org/officeDocument/2006/relationships/slide" Target="/ppt/slides/slide6.xml" Id="R34cf52dcf76c4502" /><Relationship Type="http://schemas.openxmlformats.org/officeDocument/2006/relationships/slide" Target="/ppt/slides/slide7.xml" Id="R5705aa56945644c6" /><Relationship Type="http://schemas.openxmlformats.org/officeDocument/2006/relationships/slide" Target="/ppt/slides/slide8.xml" Id="R3d8939e71e1b4d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b00e12ab8441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84e526441143a0" /><Relationship Type="http://schemas.openxmlformats.org/officeDocument/2006/relationships/notesMaster" Target="/ppt/notesMasters/notesMaster1.xml" Id="R10b8490de66e45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4024e33f7748c5" /><Relationship Type="http://schemas.openxmlformats.org/officeDocument/2006/relationships/notesMaster" Target="/ppt/notesMasters/notesMaster1.xml" Id="R1fe1ba343ec84b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7d617be56742dd" /><Relationship Type="http://schemas.openxmlformats.org/officeDocument/2006/relationships/notesMaster" Target="/ppt/notesMasters/notesMaster1.xml" Id="R5884dbb2dd8348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62ac7803fd46e9" /><Relationship Type="http://schemas.openxmlformats.org/officeDocument/2006/relationships/notesMaster" Target="/ppt/notesMasters/notesMaster1.xml" Id="R9e1b0819518b44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24d2bcfa0e4ef1" /><Relationship Type="http://schemas.openxmlformats.org/officeDocument/2006/relationships/notesMaster" Target="/ppt/notesMasters/notesMaster1.xml" Id="R2289c803301742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9067823dc848ae" /><Relationship Type="http://schemas.openxmlformats.org/officeDocument/2006/relationships/notesMaster" Target="/ppt/notesMasters/notesMaster1.xml" Id="Rdef94c77a77d47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48d8da7ad74b30" /><Relationship Type="http://schemas.openxmlformats.org/officeDocument/2006/relationships/notesMaster" Target="/ppt/notesMasters/notesMaster1.xml" Id="R44a1913be7414c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b47e83f42d4813" /><Relationship Type="http://schemas.openxmlformats.org/officeDocument/2006/relationships/notesMaster" Target="/ppt/notesMasters/notesMaster1.xml" Id="R10ae013a61224f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開場說明：本課聚焦新品銷售與服務。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先用口號建立情緒，再帶入三個銷售價值。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 Image generated with OpenAI ImageGen.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依顧客購買目的，從情境切入更自然。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示範時請自然說，不必逐字背誦。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回答後停一下，邀請顧客親自試聞。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請店長於上架前確認人員與陳列。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 GREEN 收束：真誠、安心、日常、自然。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6daa4b2deb46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a7d14c7c8c4162" /><Relationship Type="http://schemas.openxmlformats.org/officeDocument/2006/relationships/slideLayout" Target="/ppt/slideLayouts/slideLayout1.xml" Id="R96f93b5d3d7441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f93b5d3d7441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17e7e2a424854" /><Relationship Type="http://schemas.openxmlformats.org/officeDocument/2006/relationships/notesSlide" Target="/ppt/notesSlides/notesSlide1.xml" Id="R7e2b79f3f2f540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1a1e2583474143" /><Relationship Type="http://schemas.openxmlformats.org/officeDocument/2006/relationships/notesSlide" Target="/ppt/notesSlides/notesSlide2.xml" Id="R11229ac8dbc24a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4019e823d4521" /><Relationship Type="http://schemas.openxmlformats.org/officeDocument/2006/relationships/image" Target="/ppt/media/image.png" Id="Raf4de250c35e49a0" /><Relationship Type="http://schemas.openxmlformats.org/officeDocument/2006/relationships/notesSlide" Target="/ppt/notesSlides/notesSlide3.xml" Id="R1ed50fa018a340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c7b90961547b8" /><Relationship Type="http://schemas.openxmlformats.org/officeDocument/2006/relationships/notesSlide" Target="/ppt/notesSlides/notesSlide4.xml" Id="R49db5299ef934b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94300df9245e9" /><Relationship Type="http://schemas.openxmlformats.org/officeDocument/2006/relationships/notesSlide" Target="/ppt/notesSlides/notesSlide5.xml" Id="Rb426915d073c42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3dbb236494f38" /><Relationship Type="http://schemas.openxmlformats.org/officeDocument/2006/relationships/notesSlide" Target="/ppt/notesSlides/notesSlide6.xml" Id="R959f15fac8b344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9e810a1e242a0" /><Relationship Type="http://schemas.openxmlformats.org/officeDocument/2006/relationships/notesSlide" Target="/ppt/notesSlides/notesSlide7.xml" Id="Rb6deb42b5ca54a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9f3ece1a4430f" /><Relationship Type="http://schemas.openxmlformats.org/officeDocument/2006/relationships/notesSlide" Target="/ppt/notesSlides/notesSlide8.xml" Id="R54f6ede3b9b34d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ide">
            <a:extLst xmlns:a="http://schemas.openxmlformats.org/drawingml/2006/main">
              <a:ext uri="{FF2B5EF4-FFF2-40B4-BE49-F238E27FC236}">
                <a16:creationId xmlns:a16="http://schemas.microsoft.com/office/drawing/2014/main" id="{278D1DDB-08A8-4B11-B441-7D3136A5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7E"/>
          </a:solidFill>
          <a:ln xmlns:a="http://schemas.openxmlformats.org/drawingml/2006/main" w="0">
            <a:solidFill>
              <a:srgbClr val="91A87E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BF47BDE5-0F2F-405C-9BCB-7A879A98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34B38"/>
                </a:solidFill>
              </a:defRPr>
            </a:pPr>
            <a:r>
              <a:rPr sz="1350" b="1">
                <a:solidFill>
                  <a:srgbClr val="234B38"/>
                </a:solidFill>
              </a:rPr>
              <a:t>GREEN SELECTION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261CF8-F61C-4EDF-96B2-356128C87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34B38"/>
                </a:solidFill>
              </a:defRPr>
            </a:pPr>
            <a:r>
              <a:rPr sz="4200" b="1">
                <a:solidFill>
                  <a:srgbClr val="234B38"/>
                </a:solidFill>
              </a:rPr>
              <a:t>春季新品香氛蠟燭</a:t>
            </a:r>
          </a:p>
          <a:p xmlns:a="http://schemas.openxmlformats.org/drawingml/2006/main">
            <a:pPr algn="l">
              <a:defRPr sz="4200" b="1">
                <a:solidFill>
                  <a:srgbClr val="234B38"/>
                </a:solidFill>
              </a:defRPr>
            </a:pPr>
            <a:r>
              <a:rPr sz="4200" b="1">
                <a:solidFill>
                  <a:srgbClr val="234B38"/>
                </a:solidFill>
              </a:rPr>
              <a:t>門市訓練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DDC4DCA-F7C9-4085-BBC6-EECF081B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600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329"/>
                </a:solidFill>
              </a:defRPr>
            </a:pPr>
            <a:r>
              <a:rPr sz="1875" b="0">
                <a:solidFill>
                  <a:srgbClr val="203329"/>
                </a:solidFill>
              </a:rPr>
              <a:t>把「日常香氣」說成顧客願意帶走的生活提案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31323CE-A510-4BE1-A9C6-1CC889D3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4B38"/>
                </a:solidFill>
              </a:defRPr>
            </a:pPr>
            <a:r>
              <a:rPr sz="1275" b="1">
                <a:solidFill>
                  <a:srgbClr val="234B38"/>
                </a:solidFill>
              </a:rPr>
              <a:t>2026 春季新品  |  總部教育訓練</a:t>
            </a:r>
          </a:p>
        </p:txBody>
      </p:sp>
    </p:spTree>
    <p:extLst>
      <p:ext uri="{BB962C8B-B14F-4D97-AF65-F5344CB8AC3E}">
        <p14:creationId xmlns:p14="http://schemas.microsoft.com/office/powerpoint/2010/main" val="59750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rand">
            <a:extLst xmlns:a="http://schemas.openxmlformats.org/drawingml/2006/main">
              <a:ext uri="{FF2B5EF4-FFF2-40B4-BE49-F238E27FC236}">
                <a16:creationId xmlns:a16="http://schemas.microsoft.com/office/drawing/2014/main" id="{150287DF-8EEE-4026-A1F3-49A53987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B38"/>
                </a:solidFill>
              </a:defRPr>
            </a:pPr>
            <a:r>
              <a:rPr sz="1125" b="1">
                <a:solidFill>
                  <a:srgbClr val="234B38"/>
                </a:solidFill>
              </a:rPr>
              <a:t>綠野選物  |  門市訓練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3C066F04-83EA-425D-85AD-467FDEDE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B38"/>
                </a:solidFill>
              </a:defRPr>
            </a:pPr>
            <a:r>
              <a:rPr sz="1125" b="1">
                <a:solidFill>
                  <a:srgbClr val="234B38"/>
                </a:solidFill>
              </a:rPr>
              <a:t>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8FA27B-729A-48DE-AD92-DBC6AC29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4B38"/>
                </a:solidFill>
              </a:defRPr>
            </a:pPr>
            <a:r>
              <a:rPr sz="2850" b="1">
                <a:solidFill>
                  <a:srgbClr val="234B38"/>
                </a:solidFill>
              </a:rPr>
              <a:t>新品讓春日回到自己的節奏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9B59EC44-98B7-40D1-8DAE-1DAF01BF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7E"/>
          </a:solidFill>
          <a:ln xmlns:a="http://schemas.openxmlformats.org/drawingml/2006/main" w="0">
            <a:solidFill>
              <a:srgbClr val="91A87E"/>
            </a:solidFill>
            <a:prstDash val="solid"/>
          </a:ln>
        </p:spPr>
      </p:sp>
      <p:sp>
        <p:nvSpPr>
          <p:cNvPr id="5" name="slogan">
            <a:extLst xmlns:a="http://schemas.openxmlformats.org/drawingml/2006/main">
              <a:ext uri="{FF2B5EF4-FFF2-40B4-BE49-F238E27FC236}">
                <a16:creationId xmlns:a16="http://schemas.microsoft.com/office/drawing/2014/main" id="{C95C95C9-B43C-4D58-919C-93E6F2DF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E765B"/>
                </a:solidFill>
              </a:defRPr>
            </a:pPr>
            <a:r>
              <a:rPr sz="2550" b="1">
                <a:solidFill>
                  <a:srgbClr val="BE765B"/>
                </a:solidFill>
              </a:rPr>
              <a:t>一盞香，讓日常慢下來。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48F76336-261E-4CF3-96D7-8DD26AA5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3329"/>
                </a:solidFill>
              </a:defRPr>
            </a:pPr>
            <a:r>
              <a:rPr sz="2025" b="0">
                <a:solidFill>
                  <a:srgbClr val="203329"/>
                </a:solidFill>
              </a:rPr>
              <a:t>• 春季檔期提升進店話題</a:t>
            </a:r>
          </a:p>
        </p:txBody>
      </p:sp>
      <p:sp>
        <p:nvSpPr>
          <p:cNvPr id="7" name="bullet-2">
            <a:extLst xmlns:a="http://schemas.openxmlformats.org/drawingml/2006/main">
              <a:ext uri="{FF2B5EF4-FFF2-40B4-BE49-F238E27FC236}">
                <a16:creationId xmlns:a16="http://schemas.microsoft.com/office/drawing/2014/main" id="{1ED4D716-C663-4DD4-BA2B-5F159EC29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3329"/>
                </a:solidFill>
              </a:defRPr>
            </a:pPr>
            <a:r>
              <a:rPr sz="2025" b="0">
                <a:solidFill>
                  <a:srgbClr val="203329"/>
                </a:solidFill>
              </a:rPr>
              <a:t>• 居家香氛帶動加購機會</a:t>
            </a:r>
          </a:p>
        </p:txBody>
      </p:sp>
      <p:sp>
        <p:nvSpPr>
          <p:cNvPr id="8" name="bullet-3">
            <a:extLst xmlns:a="http://schemas.openxmlformats.org/drawingml/2006/main">
              <a:ext uri="{FF2B5EF4-FFF2-40B4-BE49-F238E27FC236}">
                <a16:creationId xmlns:a16="http://schemas.microsoft.com/office/drawing/2014/main" id="{AD633E23-BAD0-47C6-B5FC-7F979032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3329"/>
                </a:solidFill>
              </a:defRPr>
            </a:pPr>
            <a:r>
              <a:rPr sz="2025" b="0">
                <a:solidFill>
                  <a:srgbClr val="203329"/>
                </a:solidFill>
              </a:rPr>
              <a:t>• 送禮需求貼近日常情境</a:t>
            </a:r>
          </a:p>
        </p:txBody>
      </p:sp>
      <p:sp>
        <p:nvSpPr>
          <p:cNvPr id="9" name="side-label">
            <a:extLst xmlns:a="http://schemas.openxmlformats.org/drawingml/2006/main">
              <a:ext uri="{FF2B5EF4-FFF2-40B4-BE49-F238E27FC236}">
                <a16:creationId xmlns:a16="http://schemas.microsoft.com/office/drawing/2014/main" id="{9A1EEE54-F79C-45F0-BDED-3202C5E5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956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34B38"/>
                </a:solidFill>
              </a:defRPr>
            </a:pPr>
            <a:r>
              <a:rPr sz="1500" b="1">
                <a:solidFill>
                  <a:srgbClr val="234B38"/>
                </a:solidFill>
              </a:rPr>
              <a:t>門市重點</a:t>
            </a:r>
          </a:p>
        </p:txBody>
      </p:sp>
      <p:sp>
        <p:nvSpPr>
          <p:cNvPr id="10" name="side-copy">
            <a:extLst xmlns:a="http://schemas.openxmlformats.org/drawingml/2006/main">
              <a:ext uri="{FF2B5EF4-FFF2-40B4-BE49-F238E27FC236}">
                <a16:creationId xmlns:a16="http://schemas.microsoft.com/office/drawing/2014/main" id="{DD165C38-9B56-4FC4-A7EC-BE7EDB0E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190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3329"/>
                </a:solidFill>
              </a:defRPr>
            </a:pPr>
            <a:r>
              <a:rPr sz="1875" b="1">
                <a:solidFill>
                  <a:srgbClr val="203329"/>
                </a:solidFill>
              </a:rPr>
              <a:t>先問情境</a:t>
            </a:r>
          </a:p>
          <a:p xmlns:a="http://schemas.openxmlformats.org/drawingml/2006/main">
            <a:pPr algn="l">
              <a:defRPr sz="1875" b="1">
                <a:solidFill>
                  <a:srgbClr val="203329"/>
                </a:solidFill>
              </a:defRPr>
            </a:pPr>
            <a:r>
              <a:rPr sz="1875" b="1">
                <a:solidFill>
                  <a:srgbClr val="203329"/>
                </a:solidFill>
              </a:rPr>
              <a:t>再談香氣</a:t>
            </a:r>
          </a:p>
          <a:p xmlns:a="http://schemas.openxmlformats.org/drawingml/2006/main">
            <a:pPr algn="l">
              <a:defRPr sz="1875" b="1">
                <a:solidFill>
                  <a:srgbClr val="203329"/>
                </a:solidFill>
              </a:defRPr>
            </a:pPr>
            <a:r>
              <a:rPr sz="1875" b="1">
                <a:solidFill>
                  <a:srgbClr val="203329"/>
                </a:solidFill>
              </a:rPr>
              <a:t>最後推薦搭配</a:t>
            </a:r>
          </a:p>
        </p:txBody>
      </p:sp>
    </p:spTree>
    <p:extLst>
      <p:ext uri="{BB962C8B-B14F-4D97-AF65-F5344CB8AC3E}">
        <p14:creationId xmlns:p14="http://schemas.microsoft.com/office/powerpoint/2010/main" val="16824130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rand">
            <a:extLst xmlns:a="http://schemas.openxmlformats.org/drawingml/2006/main">
              <a:ext uri="{FF2B5EF4-FFF2-40B4-BE49-F238E27FC236}">
                <a16:creationId xmlns:a16="http://schemas.microsoft.com/office/drawing/2014/main" id="{8BF3F8DF-A030-4AD0-BA63-8A34E646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B38"/>
                </a:solidFill>
              </a:defRPr>
            </a:pPr>
            <a:r>
              <a:rPr sz="1125" b="1">
                <a:solidFill>
                  <a:srgbClr val="234B38"/>
                </a:solidFill>
              </a:rPr>
              <a:t>綠野選物  |  門市訓練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0B63982-5E6E-4F88-8574-202D5AD4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B38"/>
                </a:solidFill>
              </a:defRPr>
            </a:pPr>
            <a:r>
              <a:rPr sz="1125" b="1">
                <a:solidFill>
                  <a:srgbClr val="234B38"/>
                </a:solidFill>
              </a:rPr>
              <a:t>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7F6B86-1292-4EF7-A3B4-47714E8A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4B38"/>
                </a:solidFill>
              </a:defRPr>
            </a:pPr>
            <a:r>
              <a:rPr sz="2850" b="1">
                <a:solidFill>
                  <a:srgbClr val="234B38"/>
                </a:solidFill>
              </a:rPr>
              <a:t>三個特色，三種安心感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BC76724-FE84-4703-9B3F-441BBC2B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7E"/>
          </a:solidFill>
          <a:ln xmlns:a="http://schemas.openxmlformats.org/drawingml/2006/main" w="0">
            <a:solidFill>
              <a:srgbClr val="91A87E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de250c35e49a0"/>
          <a:srcRect xmlns:a="http://schemas.openxmlformats.org/drawingml/2006/main" l="12578" t="0" r="125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943100"/>
            <a:ext cx="4838700" cy="3638550"/>
          </a:xfrm>
          <a:prstGeom xmlns:a="http://schemas.openxmlformats.org/drawingml/2006/main" prst="rect">
            <a:avLst/>
          </a:prstGeom>
        </p:spPr>
      </p:pic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EE276F62-DA6E-489B-8437-89BC0328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3329"/>
                </a:solidFill>
              </a:defRPr>
            </a:pPr>
            <a:r>
              <a:rPr sz="1950" b="0">
                <a:solidFill>
                  <a:srgbClr val="203329"/>
                </a:solidFill>
              </a:rPr>
              <a:t>• 天然大豆蠟，燃燒更純淨</a:t>
            </a:r>
          </a:p>
        </p:txBody>
      </p:sp>
      <p:sp>
        <p:nvSpPr>
          <p:cNvPr id="7" name="bullet-2">
            <a:extLst xmlns:a="http://schemas.openxmlformats.org/drawingml/2006/main">
              <a:ext uri="{FF2B5EF4-FFF2-40B4-BE49-F238E27FC236}">
                <a16:creationId xmlns:a16="http://schemas.microsoft.com/office/drawing/2014/main" id="{DE2D8B8B-16B9-4D2A-8FB9-A978AD8B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3329"/>
                </a:solidFill>
              </a:defRPr>
            </a:pPr>
            <a:r>
              <a:rPr sz="1950" b="0">
                <a:solidFill>
                  <a:srgbClr val="203329"/>
                </a:solidFill>
              </a:rPr>
              <a:t>• 木芯設計，營造舒適聲響</a:t>
            </a:r>
          </a:p>
        </p:txBody>
      </p:sp>
      <p:sp>
        <p:nvSpPr>
          <p:cNvPr id="8" name="bullet-3">
            <a:extLst xmlns:a="http://schemas.openxmlformats.org/drawingml/2006/main">
              <a:ext uri="{FF2B5EF4-FFF2-40B4-BE49-F238E27FC236}">
                <a16:creationId xmlns:a16="http://schemas.microsoft.com/office/drawing/2014/main" id="{5C900AE2-84BE-4058-8EE0-BF7B75C9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3329"/>
                </a:solidFill>
              </a:defRPr>
            </a:pPr>
            <a:r>
              <a:rPr sz="1950" b="0">
                <a:solidFill>
                  <a:srgbClr val="203329"/>
                </a:solidFill>
              </a:rPr>
              <a:t>• 春日草本調，清新不甜膩</a:t>
            </a:r>
          </a:p>
        </p:txBody>
      </p:sp>
      <p:sp>
        <p:nvSpPr>
          <p:cNvPr id="9" name="tip">
            <a:extLst xmlns:a="http://schemas.openxmlformats.org/drawingml/2006/main">
              <a:ext uri="{FF2B5EF4-FFF2-40B4-BE49-F238E27FC236}">
                <a16:creationId xmlns:a16="http://schemas.microsoft.com/office/drawing/2014/main" id="{C83ABCBF-52E8-44EC-B54D-9912A908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34B38"/>
                </a:solidFill>
              </a:defRPr>
            </a:pPr>
            <a:r>
              <a:rPr sz="1575" b="1">
                <a:solidFill>
                  <a:srgbClr val="234B38"/>
                </a:solidFill>
              </a:rPr>
              <a:t>銷售提示：讓顧客先聞，再說使用時刻。</a:t>
            </a:r>
          </a:p>
        </p:txBody>
      </p:sp>
    </p:spTree>
    <p:extLst>
      <p:ext uri="{BB962C8B-B14F-4D97-AF65-F5344CB8AC3E}">
        <p14:creationId xmlns:p14="http://schemas.microsoft.com/office/powerpoint/2010/main" val="17771888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">
            <a:extLst xmlns:a="http://schemas.openxmlformats.org/drawingml/2006/main">
              <a:ext uri="{FF2B5EF4-FFF2-40B4-BE49-F238E27FC236}">
                <a16:creationId xmlns:a16="http://schemas.microsoft.com/office/drawing/2014/main" id="{BB5326C6-85DE-469C-BE3E-420EE8D93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B38"/>
                </a:solidFill>
              </a:defRPr>
            </a:pPr>
            <a:r>
              <a:rPr sz="1125" b="1">
                <a:solidFill>
                  <a:srgbClr val="234B38"/>
                </a:solidFill>
              </a:rPr>
              <a:t>綠野選物  |  門市訓練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B2DB67D2-76F4-4C49-BEA9-39310D65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B38"/>
                </a:solidFill>
              </a:defRPr>
            </a:pPr>
            <a:r>
              <a:rPr sz="1125" b="1">
                <a:solidFill>
                  <a:srgbClr val="234B38"/>
                </a:solidFill>
              </a:rPr>
              <a:t>04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B45A41-7BC6-48FB-B568-CA5CB424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4B38"/>
                </a:solidFill>
              </a:defRPr>
            </a:pPr>
            <a:r>
              <a:rPr sz="2850" b="1">
                <a:solidFill>
                  <a:srgbClr val="234B38"/>
                </a:solidFill>
              </a:rPr>
              <a:t>鎖定需要儀式感的生活族群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5A98D0D-9955-48CA-98E8-4467AE25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7E"/>
          </a:solidFill>
          <a:ln xmlns:a="http://schemas.openxmlformats.org/drawingml/2006/main" w="0">
            <a:solidFill>
              <a:srgbClr val="91A87E"/>
            </a:solidFill>
            <a:prstDash val="solid"/>
          </a:ln>
        </p:spPr>
      </p:sp>
      <p:sp>
        <p:nvSpPr>
          <p:cNvPr id="5" name="ta-title">
            <a:extLst xmlns:a="http://schemas.openxmlformats.org/drawingml/2006/main">
              <a:ext uri="{FF2B5EF4-FFF2-40B4-BE49-F238E27FC236}">
                <a16:creationId xmlns:a16="http://schemas.microsoft.com/office/drawing/2014/main" id="{42B692C0-C085-4491-9ACB-B2064727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4B38"/>
                </a:solidFill>
              </a:defRPr>
            </a:pPr>
            <a:r>
              <a:rPr sz="1800" b="1">
                <a:solidFill>
                  <a:srgbClr val="234B38"/>
                </a:solidFill>
              </a:rPr>
              <a:t>主要 TA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AE49C7DE-631E-4F22-9555-17663E63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329"/>
                </a:solidFill>
              </a:defRPr>
            </a:pPr>
            <a:r>
              <a:rPr sz="1875" b="0">
                <a:solidFill>
                  <a:srgbClr val="203329"/>
                </a:solidFill>
              </a:rPr>
              <a:t>• 25–40 歲都會生活者</a:t>
            </a:r>
          </a:p>
        </p:txBody>
      </p:sp>
      <p:sp>
        <p:nvSpPr>
          <p:cNvPr id="7" name="bullet-2">
            <a:extLst xmlns:a="http://schemas.openxmlformats.org/drawingml/2006/main">
              <a:ext uri="{FF2B5EF4-FFF2-40B4-BE49-F238E27FC236}">
                <a16:creationId xmlns:a16="http://schemas.microsoft.com/office/drawing/2014/main" id="{1CFE4F93-2609-416C-8A14-01ECEB94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329"/>
                </a:solidFill>
              </a:defRPr>
            </a:pPr>
            <a:r>
              <a:rPr sz="1875" b="0">
                <a:solidFill>
                  <a:srgbClr val="203329"/>
                </a:solidFill>
              </a:rPr>
              <a:t>• 重視居家氛圍與質感</a:t>
            </a:r>
          </a:p>
        </p:txBody>
      </p:sp>
      <p:sp>
        <p:nvSpPr>
          <p:cNvPr id="8" name="bullet-3">
            <a:extLst xmlns:a="http://schemas.openxmlformats.org/drawingml/2006/main">
              <a:ext uri="{FF2B5EF4-FFF2-40B4-BE49-F238E27FC236}">
                <a16:creationId xmlns:a16="http://schemas.microsoft.com/office/drawing/2014/main" id="{5FA5B02A-A1A1-4152-BFC0-4488AFEA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329"/>
                </a:solidFill>
              </a:defRPr>
            </a:pPr>
            <a:r>
              <a:rPr sz="1875" b="0">
                <a:solidFill>
                  <a:srgbClr val="203329"/>
                </a:solidFill>
              </a:rPr>
              <a:t>• 偏好天然、簡約選物</a:t>
            </a:r>
          </a:p>
        </p:txBody>
      </p:sp>
      <p:sp>
        <p:nvSpPr>
          <p:cNvPr id="9" name="scene-title">
            <a:extLst xmlns:a="http://schemas.openxmlformats.org/drawingml/2006/main">
              <a:ext uri="{FF2B5EF4-FFF2-40B4-BE49-F238E27FC236}">
                <a16:creationId xmlns:a16="http://schemas.microsoft.com/office/drawing/2014/main" id="{C39C58B1-DCBD-426A-B5B8-923E0ABA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14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4B38"/>
                </a:solidFill>
              </a:defRPr>
            </a:pPr>
            <a:r>
              <a:rPr sz="1800" b="1">
                <a:solidFill>
                  <a:srgbClr val="234B38"/>
                </a:solidFill>
              </a:rPr>
              <a:t>推薦情境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AD54BB58-BD00-4533-A66D-47D133CB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47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329"/>
                </a:solidFill>
              </a:defRPr>
            </a:pPr>
            <a:r>
              <a:rPr sz="1875" b="0">
                <a:solidFill>
                  <a:srgbClr val="203329"/>
                </a:solidFill>
              </a:rPr>
              <a:t>• 下班後放鬆時刻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396732D6-F5D4-4BD7-9D58-456A33AB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004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329"/>
                </a:solidFill>
              </a:defRPr>
            </a:pPr>
            <a:r>
              <a:rPr sz="1875" b="0">
                <a:solidFill>
                  <a:srgbClr val="203329"/>
                </a:solidFill>
              </a:rPr>
              <a:t>• 週末整理居家空間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2ABBC5FA-5BB3-468F-92E4-6BB904D1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528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329"/>
                </a:solidFill>
              </a:defRPr>
            </a:pPr>
            <a:r>
              <a:rPr sz="1875" b="0">
                <a:solidFill>
                  <a:srgbClr val="203329"/>
                </a:solidFill>
              </a:rPr>
              <a:t>• 送給喜愛香氣的朋友</a:t>
            </a:r>
          </a:p>
        </p:txBody>
      </p:sp>
    </p:spTree>
    <p:extLst>
      <p:ext uri="{BB962C8B-B14F-4D97-AF65-F5344CB8AC3E}">
        <p14:creationId xmlns:p14="http://schemas.microsoft.com/office/powerpoint/2010/main" val="5603011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rand">
            <a:extLst xmlns:a="http://schemas.openxmlformats.org/drawingml/2006/main">
              <a:ext uri="{FF2B5EF4-FFF2-40B4-BE49-F238E27FC236}">
                <a16:creationId xmlns:a16="http://schemas.microsoft.com/office/drawing/2014/main" id="{0793C105-431E-433F-9D2A-F80459F7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B38"/>
                </a:solidFill>
              </a:defRPr>
            </a:pPr>
            <a:r>
              <a:rPr sz="1125" b="1">
                <a:solidFill>
                  <a:srgbClr val="234B38"/>
                </a:solidFill>
              </a:rPr>
              <a:t>綠野選物  |  門市訓練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55D24AE4-79EA-427C-B93D-CB50E31B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B38"/>
                </a:solidFill>
              </a:defRPr>
            </a:pPr>
            <a:r>
              <a:rPr sz="1125" b="1">
                <a:solidFill>
                  <a:srgbClr val="234B38"/>
                </a:solidFill>
              </a:rPr>
              <a:t>05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89C9E40-C1A6-4571-B221-CF88CC6F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4B38"/>
                </a:solidFill>
              </a:defRPr>
            </a:pPr>
            <a:r>
              <a:rPr sz="2850" b="1">
                <a:solidFill>
                  <a:srgbClr val="234B38"/>
                </a:solidFill>
              </a:rPr>
              <a:t>三句話，開啟自然推薦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FFDCA53-0980-49FC-8970-0725DC90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7E"/>
          </a:solidFill>
          <a:ln xmlns:a="http://schemas.openxmlformats.org/drawingml/2006/main" w="0">
            <a:solidFill>
              <a:srgbClr val="91A87E"/>
            </a:solidFill>
            <a:prstDash val="solid"/>
          </a:ln>
        </p:spPr>
      </p:sp>
      <p:sp>
        <p:nvSpPr>
          <p:cNvPr id="5" name="line1">
            <a:extLst xmlns:a="http://schemas.openxmlformats.org/drawingml/2006/main">
              <a:ext uri="{FF2B5EF4-FFF2-40B4-BE49-F238E27FC236}">
                <a16:creationId xmlns:a16="http://schemas.microsoft.com/office/drawing/2014/main" id="{07128E6F-B89C-485C-B420-4F847AB2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34B38"/>
                </a:solidFill>
              </a:defRPr>
            </a:pPr>
            <a:r>
              <a:rPr sz="2175" b="1">
                <a:solidFill>
                  <a:srgbClr val="234B38"/>
                </a:solidFill>
              </a:rPr>
              <a:t>「您想找放鬆用，還是送禮用呢？」</a:t>
            </a:r>
          </a:p>
        </p:txBody>
      </p:sp>
      <p:sp>
        <p:nvSpPr>
          <p:cNvPr id="6" name="line2">
            <a:extLst xmlns:a="http://schemas.openxmlformats.org/drawingml/2006/main">
              <a:ext uri="{FF2B5EF4-FFF2-40B4-BE49-F238E27FC236}">
                <a16:creationId xmlns:a16="http://schemas.microsoft.com/office/drawing/2014/main" id="{A1EE47B1-BBD2-4709-BB75-843590CD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34B38"/>
                </a:solidFill>
              </a:defRPr>
            </a:pPr>
            <a:r>
              <a:rPr sz="2175" b="1">
                <a:solidFill>
                  <a:srgbClr val="234B38"/>
                </a:solidFill>
              </a:rPr>
              <a:t>「這款是清新的草本調，不會太甜。」</a:t>
            </a:r>
          </a:p>
        </p:txBody>
      </p:sp>
      <p:sp>
        <p:nvSpPr>
          <p:cNvPr id="7" name="line3">
            <a:extLst xmlns:a="http://schemas.openxmlformats.org/drawingml/2006/main">
              <a:ext uri="{FF2B5EF4-FFF2-40B4-BE49-F238E27FC236}">
                <a16:creationId xmlns:a16="http://schemas.microsoft.com/office/drawing/2014/main" id="{421C6B1C-0190-49DF-8044-10DADA06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34B38"/>
                </a:solidFill>
              </a:defRPr>
            </a:pPr>
            <a:r>
              <a:rPr sz="2175" b="1">
                <a:solidFill>
                  <a:srgbClr val="234B38"/>
                </a:solidFill>
              </a:rPr>
              <a:t>「想像下班點起來，空間會很安定。」</a:t>
            </a:r>
          </a:p>
        </p:txBody>
      </p:sp>
      <p:sp>
        <p:nvSpPr>
          <p:cNvPr id="8" name="footer-tip">
            <a:extLst xmlns:a="http://schemas.openxmlformats.org/drawingml/2006/main">
              <a:ext uri="{FF2B5EF4-FFF2-40B4-BE49-F238E27FC236}">
                <a16:creationId xmlns:a16="http://schemas.microsoft.com/office/drawing/2014/main" id="{EC4D4172-C8A8-4593-AA99-E71DF01B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E765B"/>
                </a:solidFill>
              </a:defRPr>
            </a:pPr>
            <a:r>
              <a:rPr sz="1500" b="1">
                <a:solidFill>
                  <a:srgbClr val="BE765B"/>
                </a:solidFill>
              </a:rPr>
              <a:t>先問需求，再描述感受。</a:t>
            </a:r>
          </a:p>
        </p:txBody>
      </p:sp>
    </p:spTree>
    <p:extLst>
      <p:ext uri="{BB962C8B-B14F-4D97-AF65-F5344CB8AC3E}">
        <p14:creationId xmlns:p14="http://schemas.microsoft.com/office/powerpoint/2010/main" val="4082226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rand">
            <a:extLst xmlns:a="http://schemas.openxmlformats.org/drawingml/2006/main">
              <a:ext uri="{FF2B5EF4-FFF2-40B4-BE49-F238E27FC236}">
                <a16:creationId xmlns:a16="http://schemas.microsoft.com/office/drawing/2014/main" id="{BAC4A926-DE32-4575-860A-DA1B51F14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B38"/>
                </a:solidFill>
              </a:defRPr>
            </a:pPr>
            <a:r>
              <a:rPr sz="1125" b="1">
                <a:solidFill>
                  <a:srgbClr val="234B38"/>
                </a:solidFill>
              </a:rPr>
              <a:t>綠野選物  |  門市訓練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3EC44641-9F4C-466D-9446-B195D8ED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B38"/>
                </a:solidFill>
              </a:defRPr>
            </a:pPr>
            <a:r>
              <a:rPr sz="1125" b="1">
                <a:solidFill>
                  <a:srgbClr val="234B38"/>
                </a:solidFill>
              </a:rPr>
              <a:t>06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DDAA91-565A-42F4-9371-13B994CB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4B38"/>
                </a:solidFill>
              </a:defRPr>
            </a:pPr>
            <a:r>
              <a:rPr sz="2850" b="1">
                <a:solidFill>
                  <a:srgbClr val="234B38"/>
                </a:solidFill>
              </a:rPr>
              <a:t>FAQ：回答簡短，讓顧客安心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9CE3408E-C595-41DF-AE23-EED9F7FA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7E"/>
          </a:solidFill>
          <a:ln xmlns:a="http://schemas.openxmlformats.org/drawingml/2006/main" w="0">
            <a:solidFill>
              <a:srgbClr val="91A87E"/>
            </a:solidFill>
            <a:prstDash val="solid"/>
          </a:ln>
        </p:spPr>
      </p:sp>
      <p:sp>
        <p:nvSpPr>
          <p:cNvPr id="5" name="q1">
            <a:extLst xmlns:a="http://schemas.openxmlformats.org/drawingml/2006/main">
              <a:ext uri="{FF2B5EF4-FFF2-40B4-BE49-F238E27FC236}">
                <a16:creationId xmlns:a16="http://schemas.microsoft.com/office/drawing/2014/main" id="{337F5A87-4158-42CC-955F-412BE33E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4B38"/>
                </a:solidFill>
              </a:defRPr>
            </a:pPr>
            <a:r>
              <a:rPr sz="1800" b="1">
                <a:solidFill>
                  <a:srgbClr val="234B38"/>
                </a:solidFill>
              </a:rPr>
              <a:t>Q  香味會不會太濃？</a:t>
            </a:r>
          </a:p>
        </p:txBody>
      </p:sp>
      <p:sp>
        <p:nvSpPr>
          <p:cNvPr id="6" name="a1">
            <a:extLst xmlns:a="http://schemas.openxmlformats.org/drawingml/2006/main">
              <a:ext uri="{FF2B5EF4-FFF2-40B4-BE49-F238E27FC236}">
                <a16:creationId xmlns:a16="http://schemas.microsoft.com/office/drawing/2014/main" id="{130D1FCD-F26A-43B6-9186-0BF5DF3E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3329"/>
                </a:solidFill>
              </a:defRPr>
            </a:pPr>
            <a:r>
              <a:rPr sz="1725" b="0">
                <a:solidFill>
                  <a:srgbClr val="203329"/>
                </a:solidFill>
              </a:rPr>
              <a:t>A  草本調清爽，適合日常使用。</a:t>
            </a:r>
          </a:p>
        </p:txBody>
      </p:sp>
      <p:sp>
        <p:nvSpPr>
          <p:cNvPr id="7" name="q2">
            <a:extLst xmlns:a="http://schemas.openxmlformats.org/drawingml/2006/main">
              <a:ext uri="{FF2B5EF4-FFF2-40B4-BE49-F238E27FC236}">
                <a16:creationId xmlns:a16="http://schemas.microsoft.com/office/drawing/2014/main" id="{4D46C344-9332-4E98-A1EB-BD9A5547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4B38"/>
                </a:solidFill>
              </a:defRPr>
            </a:pPr>
            <a:r>
              <a:rPr sz="1800" b="1">
                <a:solidFill>
                  <a:srgbClr val="234B38"/>
                </a:solidFill>
              </a:rPr>
              <a:t>Q  第一次使用要注意什麼？</a:t>
            </a:r>
          </a:p>
        </p:txBody>
      </p:sp>
      <p:sp>
        <p:nvSpPr>
          <p:cNvPr id="8" name="a2">
            <a:extLst xmlns:a="http://schemas.openxmlformats.org/drawingml/2006/main">
              <a:ext uri="{FF2B5EF4-FFF2-40B4-BE49-F238E27FC236}">
                <a16:creationId xmlns:a16="http://schemas.microsoft.com/office/drawing/2014/main" id="{7E738FB2-64B4-42D6-AF8A-8DF5E191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3329"/>
                </a:solidFill>
              </a:defRPr>
            </a:pPr>
            <a:r>
              <a:rPr sz="1725" b="0">
                <a:solidFill>
                  <a:srgbClr val="203329"/>
                </a:solidFill>
              </a:rPr>
              <a:t>A  建議先燃燒至表面平整。</a:t>
            </a:r>
          </a:p>
        </p:txBody>
      </p:sp>
      <p:sp>
        <p:nvSpPr>
          <p:cNvPr id="9" name="q3">
            <a:extLst xmlns:a="http://schemas.openxmlformats.org/drawingml/2006/main">
              <a:ext uri="{FF2B5EF4-FFF2-40B4-BE49-F238E27FC236}">
                <a16:creationId xmlns:a16="http://schemas.microsoft.com/office/drawing/2014/main" id="{692B9B97-4FE5-40C8-A702-DEE921E6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4B38"/>
                </a:solidFill>
              </a:defRPr>
            </a:pPr>
            <a:r>
              <a:rPr sz="1800" b="1">
                <a:solidFill>
                  <a:srgbClr val="234B38"/>
                </a:solidFill>
              </a:rPr>
              <a:t>Q  適合送禮嗎？</a:t>
            </a:r>
          </a:p>
        </p:txBody>
      </p:sp>
      <p:sp>
        <p:nvSpPr>
          <p:cNvPr id="10" name="a3">
            <a:extLst xmlns:a="http://schemas.openxmlformats.org/drawingml/2006/main">
              <a:ext uri="{FF2B5EF4-FFF2-40B4-BE49-F238E27FC236}">
                <a16:creationId xmlns:a16="http://schemas.microsoft.com/office/drawing/2014/main" id="{0F2B0618-290A-4135-A83F-9154C9D0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03329"/>
                </a:solidFill>
              </a:defRPr>
            </a:pPr>
            <a:r>
              <a:rPr sz="1725" b="0">
                <a:solidFill>
                  <a:srgbClr val="203329"/>
                </a:solidFill>
              </a:rPr>
              <a:t>A  適合喬遷、生日與日常心意。</a:t>
            </a:r>
          </a:p>
        </p:txBody>
      </p:sp>
      <p:sp>
        <p:nvSpPr>
          <p:cNvPr id="11" name="aside">
            <a:extLst xmlns:a="http://schemas.openxmlformats.org/drawingml/2006/main">
              <a:ext uri="{FF2B5EF4-FFF2-40B4-BE49-F238E27FC236}">
                <a16:creationId xmlns:a16="http://schemas.microsoft.com/office/drawing/2014/main" id="{49970B7E-F41B-43ED-AA3B-559A412C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E765B"/>
                </a:solidFill>
              </a:defRPr>
            </a:pPr>
            <a:r>
              <a:rPr sz="2175" b="1">
                <a:solidFill>
                  <a:srgbClr val="BE765B"/>
                </a:solidFill>
              </a:rPr>
              <a:t>不確定時</a:t>
            </a:r>
          </a:p>
          <a:p xmlns:a="http://schemas.openxmlformats.org/drawingml/2006/main">
            <a:pPr algn="l">
              <a:defRPr sz="2175" b="1">
                <a:solidFill>
                  <a:srgbClr val="BE765B"/>
                </a:solidFill>
              </a:defRPr>
            </a:pPr>
            <a:r>
              <a:rPr sz="2175" b="1">
                <a:solidFill>
                  <a:srgbClr val="BE765B"/>
                </a:solidFill>
              </a:rPr>
              <a:t>邀請顧客現場試聞</a:t>
            </a:r>
          </a:p>
        </p:txBody>
      </p:sp>
    </p:spTree>
    <p:extLst>
      <p:ext uri="{BB962C8B-B14F-4D97-AF65-F5344CB8AC3E}">
        <p14:creationId xmlns:p14="http://schemas.microsoft.com/office/powerpoint/2010/main" val="2347523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rand">
            <a:extLst xmlns:a="http://schemas.openxmlformats.org/drawingml/2006/main">
              <a:ext uri="{FF2B5EF4-FFF2-40B4-BE49-F238E27FC236}">
                <a16:creationId xmlns:a16="http://schemas.microsoft.com/office/drawing/2014/main" id="{73E6A330-F118-4DCF-BF1D-74C124E1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B38"/>
                </a:solidFill>
              </a:defRPr>
            </a:pPr>
            <a:r>
              <a:rPr sz="1125" b="1">
                <a:solidFill>
                  <a:srgbClr val="234B38"/>
                </a:solidFill>
              </a:rPr>
              <a:t>綠野選物  |  門市訓練</a:t>
            </a:r>
          </a:p>
        </p:txBody>
      </p:sp>
      <p:sp>
        <p:nvSpPr>
          <p:cNvPr id="2" name="page">
            <a:extLst xmlns:a="http://schemas.openxmlformats.org/drawingml/2006/main">
              <a:ext uri="{FF2B5EF4-FFF2-40B4-BE49-F238E27FC236}">
                <a16:creationId xmlns:a16="http://schemas.microsoft.com/office/drawing/2014/main" id="{0F6908BB-040E-4D12-B4E4-DA2C67D3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238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4B38"/>
                </a:solidFill>
              </a:defRPr>
            </a:pPr>
            <a:r>
              <a:rPr sz="1125" b="1">
                <a:solidFill>
                  <a:srgbClr val="234B38"/>
                </a:solidFill>
              </a:rPr>
              <a:t>07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C1DF94-16B4-4346-A0A3-D928D5A4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34B38"/>
                </a:solidFill>
              </a:defRPr>
            </a:pPr>
            <a:r>
              <a:rPr sz="2850" b="1">
                <a:solidFill>
                  <a:srgbClr val="234B38"/>
                </a:solidFill>
              </a:rPr>
              <a:t>上架一致，體驗才會一致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591827C-652D-4B88-B790-BE6580F4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7E"/>
          </a:solidFill>
          <a:ln xmlns:a="http://schemas.openxmlformats.org/drawingml/2006/main" w="0">
            <a:solidFill>
              <a:srgbClr val="91A87E"/>
            </a:solidFill>
            <a:prstDash val="solid"/>
          </a:ln>
        </p:spPr>
      </p:sp>
      <p:sp>
        <p:nvSpPr>
          <p:cNvPr id="5" name="time-title">
            <a:extLst xmlns:a="http://schemas.openxmlformats.org/drawingml/2006/main">
              <a:ext uri="{FF2B5EF4-FFF2-40B4-BE49-F238E27FC236}">
                <a16:creationId xmlns:a16="http://schemas.microsoft.com/office/drawing/2014/main" id="{9009A2D7-04E4-470F-A99B-B7F73955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4B38"/>
                </a:solidFill>
              </a:defRPr>
            </a:pPr>
            <a:r>
              <a:rPr sz="1800" b="1">
                <a:solidFill>
                  <a:srgbClr val="234B38"/>
                </a:solidFill>
              </a:rPr>
              <a:t>上架時程</a:t>
            </a:r>
          </a:p>
        </p:txBody>
      </p:sp>
      <p:sp>
        <p:nvSpPr>
          <p:cNvPr id="6" name="bullet-1">
            <a:extLst xmlns:a="http://schemas.openxmlformats.org/drawingml/2006/main">
              <a:ext uri="{FF2B5EF4-FFF2-40B4-BE49-F238E27FC236}">
                <a16:creationId xmlns:a16="http://schemas.microsoft.com/office/drawing/2014/main" id="{D1DBE6BD-EFCF-458A-8C0D-BC2E092B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329"/>
                </a:solidFill>
              </a:defRPr>
            </a:pPr>
            <a:r>
              <a:rPr sz="1875" b="0">
                <a:solidFill>
                  <a:srgbClr val="203329"/>
                </a:solidFill>
              </a:rPr>
              <a:t>• 前一週：完成商品教育</a:t>
            </a:r>
          </a:p>
        </p:txBody>
      </p:sp>
      <p:sp>
        <p:nvSpPr>
          <p:cNvPr id="7" name="bullet-2">
            <a:extLst xmlns:a="http://schemas.openxmlformats.org/drawingml/2006/main">
              <a:ext uri="{FF2B5EF4-FFF2-40B4-BE49-F238E27FC236}">
                <a16:creationId xmlns:a16="http://schemas.microsoft.com/office/drawing/2014/main" id="{8BCFC025-38C0-43CB-9F3F-B42DDA2C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329"/>
                </a:solidFill>
              </a:defRPr>
            </a:pPr>
            <a:r>
              <a:rPr sz="1875" b="0">
                <a:solidFill>
                  <a:srgbClr val="203329"/>
                </a:solidFill>
              </a:rPr>
              <a:t>• 上架日：陳列與試聞準備</a:t>
            </a:r>
          </a:p>
        </p:txBody>
      </p:sp>
      <p:sp>
        <p:nvSpPr>
          <p:cNvPr id="8" name="bullet-3">
            <a:extLst xmlns:a="http://schemas.openxmlformats.org/drawingml/2006/main">
              <a:ext uri="{FF2B5EF4-FFF2-40B4-BE49-F238E27FC236}">
                <a16:creationId xmlns:a16="http://schemas.microsoft.com/office/drawing/2014/main" id="{B78F180F-6F1C-4418-92DF-86441F5C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329"/>
                </a:solidFill>
              </a:defRPr>
            </a:pPr>
            <a:r>
              <a:rPr sz="1875" b="0">
                <a:solidFill>
                  <a:srgbClr val="203329"/>
                </a:solidFill>
              </a:rPr>
              <a:t>• 首週：回報顧客提問</a:t>
            </a:r>
          </a:p>
        </p:txBody>
      </p:sp>
      <p:sp>
        <p:nvSpPr>
          <p:cNvPr id="9" name="role-title">
            <a:extLst xmlns:a="http://schemas.openxmlformats.org/drawingml/2006/main">
              <a:ext uri="{FF2B5EF4-FFF2-40B4-BE49-F238E27FC236}">
                <a16:creationId xmlns:a16="http://schemas.microsoft.com/office/drawing/2014/main" id="{BC975279-6674-4C6D-B93F-DA5DE679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4B38"/>
                </a:solidFill>
              </a:defRPr>
            </a:pPr>
            <a:r>
              <a:rPr sz="1800" b="1">
                <a:solidFill>
                  <a:srgbClr val="234B38"/>
                </a:solidFill>
              </a:rPr>
              <a:t>門市分工</a:t>
            </a:r>
          </a:p>
        </p:txBody>
      </p:sp>
      <p:sp>
        <p:nvSpPr>
          <p:cNvPr id="10" name="bullet-1">
            <a:extLst xmlns:a="http://schemas.openxmlformats.org/drawingml/2006/main">
              <a:ext uri="{FF2B5EF4-FFF2-40B4-BE49-F238E27FC236}">
                <a16:creationId xmlns:a16="http://schemas.microsoft.com/office/drawing/2014/main" id="{2FC055F6-F79F-4549-9F6C-FA8F5969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670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329"/>
                </a:solidFill>
              </a:defRPr>
            </a:pPr>
            <a:r>
              <a:rPr sz="1875" b="0">
                <a:solidFill>
                  <a:srgbClr val="203329"/>
                </a:solidFill>
              </a:rPr>
              <a:t>• 店長：確認陳列與補貨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605CA059-52B8-49FD-9D3E-CF958A1A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194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329"/>
                </a:solidFill>
              </a:defRPr>
            </a:pPr>
            <a:r>
              <a:rPr sz="1875" b="0">
                <a:solidFill>
                  <a:srgbClr val="203329"/>
                </a:solidFill>
              </a:rPr>
              <a:t>• 夥伴：主動邀請試聞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D4E6EC6C-E997-459C-B85A-DAE14516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3329"/>
                </a:solidFill>
              </a:defRPr>
            </a:pPr>
            <a:r>
              <a:rPr sz="1875" b="0">
                <a:solidFill>
                  <a:srgbClr val="203329"/>
                </a:solidFill>
              </a:rPr>
              <a:t>• 全員：記錄回饋與需求</a:t>
            </a:r>
          </a:p>
        </p:txBody>
      </p:sp>
    </p:spTree>
    <p:extLst>
      <p:ext uri="{BB962C8B-B14F-4D97-AF65-F5344CB8AC3E}">
        <p14:creationId xmlns:p14="http://schemas.microsoft.com/office/powerpoint/2010/main" val="4551268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34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reen">
            <a:extLst xmlns:a="http://schemas.openxmlformats.org/drawingml/2006/main">
              <a:ext uri="{FF2B5EF4-FFF2-40B4-BE49-F238E27FC236}">
                <a16:creationId xmlns:a16="http://schemas.microsoft.com/office/drawing/2014/main" id="{2CF85FBC-7C34-40AE-833D-4860FD45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GREEN</a:t>
            </a:r>
          </a:p>
        </p:txBody>
      </p:sp>
      <p:sp>
        <p:nvSpPr>
          <p:cNvPr id="2" name="core">
            <a:extLst xmlns:a="http://schemas.openxmlformats.org/drawingml/2006/main">
              <a:ext uri="{FF2B5EF4-FFF2-40B4-BE49-F238E27FC236}">
                <a16:creationId xmlns:a16="http://schemas.microsoft.com/office/drawing/2014/main" id="{00280722-A480-4559-9BD7-CE02B127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FFFFF"/>
                </a:solidFill>
              </a:defRPr>
            </a:pPr>
            <a:r>
              <a:rPr sz="2325" b="0">
                <a:solidFill>
                  <a:srgbClr val="FFFFFF"/>
                </a:solidFill>
              </a:rPr>
              <a:t>讓每一次選物，回到更好的日常。</a:t>
            </a:r>
          </a:p>
        </p:txBody>
      </p:sp>
      <p:sp>
        <p:nvSpPr>
          <p:cNvPr id="3" name="bullet-1">
            <a:extLst xmlns:a="http://schemas.openxmlformats.org/drawingml/2006/main">
              <a:ext uri="{FF2B5EF4-FFF2-40B4-BE49-F238E27FC236}">
                <a16:creationId xmlns:a16="http://schemas.microsoft.com/office/drawing/2014/main" id="{30B6BE84-755A-475F-829E-D3B73437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CE8D5"/>
                </a:solidFill>
              </a:defRPr>
            </a:pPr>
            <a:r>
              <a:rPr sz="1950" b="0">
                <a:solidFill>
                  <a:srgbClr val="DCE8D5"/>
                </a:solidFill>
              </a:rPr>
              <a:t>• Genuine｜真誠傾聽需求</a:t>
            </a:r>
          </a:p>
        </p:txBody>
      </p:sp>
      <p:sp>
        <p:nvSpPr>
          <p:cNvPr id="4" name="bullet-2">
            <a:extLst xmlns:a="http://schemas.openxmlformats.org/drawingml/2006/main">
              <a:ext uri="{FF2B5EF4-FFF2-40B4-BE49-F238E27FC236}">
                <a16:creationId xmlns:a16="http://schemas.microsoft.com/office/drawing/2014/main" id="{5893AD19-18CF-4867-B471-A9E58428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CE8D5"/>
                </a:solidFill>
              </a:defRPr>
            </a:pPr>
            <a:r>
              <a:rPr sz="1950" b="0">
                <a:solidFill>
                  <a:srgbClr val="DCE8D5"/>
                </a:solidFill>
              </a:rPr>
              <a:t>• Responsible｜選擇更安心</a:t>
            </a:r>
          </a:p>
        </p:txBody>
      </p:sp>
      <p:sp>
        <p:nvSpPr>
          <p:cNvPr id="5" name="bullet-3">
            <a:extLst xmlns:a="http://schemas.openxmlformats.org/drawingml/2006/main">
              <a:ext uri="{FF2B5EF4-FFF2-40B4-BE49-F238E27FC236}">
                <a16:creationId xmlns:a16="http://schemas.microsoft.com/office/drawing/2014/main" id="{A4E6B869-9212-4BE3-84A2-317E4DE0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CE8D5"/>
                </a:solidFill>
              </a:defRPr>
            </a:pPr>
            <a:r>
              <a:rPr sz="1950" b="0">
                <a:solidFill>
                  <a:srgbClr val="DCE8D5"/>
                </a:solidFill>
              </a:rPr>
              <a:t>• Everyday｜融入每日生活</a:t>
            </a:r>
          </a:p>
        </p:txBody>
      </p:sp>
      <p:sp>
        <p:nvSpPr>
          <p:cNvPr id="6" name="bullet-4">
            <a:extLst xmlns:a="http://schemas.openxmlformats.org/drawingml/2006/main">
              <a:ext uri="{FF2B5EF4-FFF2-40B4-BE49-F238E27FC236}">
                <a16:creationId xmlns:a16="http://schemas.microsoft.com/office/drawing/2014/main" id="{C38B6EA1-3E25-4A57-BE24-EA62A4F0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CE8D5"/>
                </a:solidFill>
              </a:defRPr>
            </a:pPr>
            <a:r>
              <a:rPr sz="1950" b="0">
                <a:solidFill>
                  <a:srgbClr val="DCE8D5"/>
                </a:solidFill>
              </a:rPr>
              <a:t>• Natural｜親近自然質地</a:t>
            </a:r>
          </a:p>
        </p:txBody>
      </p:sp>
      <p:sp>
        <p:nvSpPr>
          <p:cNvPr id="7" name="closing">
            <a:extLst xmlns:a="http://schemas.openxmlformats.org/drawingml/2006/main">
              <a:ext uri="{FF2B5EF4-FFF2-40B4-BE49-F238E27FC236}">
                <a16:creationId xmlns:a16="http://schemas.microsoft.com/office/drawing/2014/main" id="{AF46DE97-D307-4875-9ACA-39D389D9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DCE8D5"/>
                </a:solidFill>
              </a:defRPr>
            </a:pPr>
            <a:r>
              <a:rPr sz="1725" b="1">
                <a:solidFill>
                  <a:srgbClr val="DCE8D5"/>
                </a:solidFill>
              </a:rPr>
              <a:t>把香氣說成生活，</a:t>
            </a:r>
          </a:p>
          <a:p xmlns:a="http://schemas.openxmlformats.org/drawingml/2006/main">
            <a:pPr algn="l">
              <a:defRPr sz="1725" b="1">
                <a:solidFill>
                  <a:srgbClr val="DCE8D5"/>
                </a:solidFill>
              </a:defRPr>
            </a:pPr>
            <a:r>
              <a:rPr sz="1725" b="1">
                <a:solidFill>
                  <a:srgbClr val="DCE8D5"/>
                </a:solidFill>
              </a:rPr>
              <a:t>把生活留給顧客。</a:t>
            </a:r>
          </a:p>
        </p:txBody>
      </p:sp>
    </p:spTree>
    <p:extLst>
      <p:ext uri="{BB962C8B-B14F-4D97-AF65-F5344CB8AC3E}">
        <p14:creationId xmlns:p14="http://schemas.microsoft.com/office/powerpoint/2010/main" val="12923951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2026-07-30T06:55:34.7160000Z</dcterms:created>
  <dcterms:modified xsi:type="dcterms:W3CDTF">2026-07-30T06:55:34.7160000Z</dcterms:modified>
</coreProperties>
</file>